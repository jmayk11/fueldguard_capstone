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Bebas Neu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gCj3022E3n378JipaXT9v7syd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basNeu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829aa4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a829aa49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34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Relationship Id="rId4" Type="http://schemas.openxmlformats.org/officeDocument/2006/relationships/image" Target="../media/image33.png"/><Relationship Id="rId5" Type="http://schemas.openxmlformats.org/officeDocument/2006/relationships/image" Target="../media/image10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fa829aa49b_0_0"/>
          <p:cNvPicPr preferRelativeResize="0"/>
          <p:nvPr/>
        </p:nvPicPr>
        <p:blipFill rotWithShape="1">
          <a:blip r:embed="rId3">
            <a:alphaModFix/>
          </a:blip>
          <a:srcRect b="3016" l="0" r="1497" t="3025"/>
          <a:stretch/>
        </p:blipFill>
        <p:spPr>
          <a:xfrm flipH="1">
            <a:off x="7503810" y="0"/>
            <a:ext cx="10784190" cy="10286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g3fa829aa49b_0_0"/>
          <p:cNvGrpSpPr/>
          <p:nvPr/>
        </p:nvGrpSpPr>
        <p:grpSpPr>
          <a:xfrm>
            <a:off x="7484759" y="-215171"/>
            <a:ext cx="8816402" cy="10572848"/>
            <a:chOff x="0" y="-38100"/>
            <a:chExt cx="2322000" cy="2784600"/>
          </a:xfrm>
        </p:grpSpPr>
        <p:sp>
          <p:nvSpPr>
            <p:cNvPr id="86" name="Google Shape;86;g3fa829aa49b_0_0"/>
            <p:cNvSpPr/>
            <p:nvPr/>
          </p:nvSpPr>
          <p:spPr>
            <a:xfrm>
              <a:off x="0" y="0"/>
              <a:ext cx="2321992" cy="2746474"/>
            </a:xfrm>
            <a:custGeom>
              <a:rect b="b" l="l" r="r" t="t"/>
              <a:pathLst>
                <a:path extrusionOk="0" h="2746474" w="2321992">
                  <a:moveTo>
                    <a:pt x="0" y="0"/>
                  </a:moveTo>
                  <a:lnTo>
                    <a:pt x="2321992" y="0"/>
                  </a:lnTo>
                  <a:lnTo>
                    <a:pt x="2321992" y="2746474"/>
                  </a:lnTo>
                  <a:lnTo>
                    <a:pt x="0" y="2746474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000000">
                    <a:alpha val="76471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7" name="Google Shape;87;g3fa829aa49b_0_0"/>
            <p:cNvSpPr txBox="1"/>
            <p:nvPr/>
          </p:nvSpPr>
          <p:spPr>
            <a:xfrm>
              <a:off x="0" y="-38100"/>
              <a:ext cx="2322000" cy="278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g3fa829aa49b_0_0"/>
          <p:cNvSpPr/>
          <p:nvPr/>
        </p:nvSpPr>
        <p:spPr>
          <a:xfrm>
            <a:off x="1028700" y="1028700"/>
            <a:ext cx="211999" cy="211999"/>
          </a:xfrm>
          <a:custGeom>
            <a:rect b="b" l="l" r="r" t="t"/>
            <a:pathLst>
              <a:path extrusionOk="0" h="211999" w="211999">
                <a:moveTo>
                  <a:pt x="0" y="0"/>
                </a:moveTo>
                <a:lnTo>
                  <a:pt x="211999" y="0"/>
                </a:lnTo>
                <a:lnTo>
                  <a:pt x="211999" y="211999"/>
                </a:lnTo>
                <a:lnTo>
                  <a:pt x="0" y="211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g3fa829aa49b_0_0"/>
          <p:cNvGrpSpPr/>
          <p:nvPr/>
        </p:nvGrpSpPr>
        <p:grpSpPr>
          <a:xfrm>
            <a:off x="2606671" y="6124679"/>
            <a:ext cx="453445" cy="167937"/>
            <a:chOff x="0" y="-19050"/>
            <a:chExt cx="119425" cy="44230"/>
          </a:xfrm>
        </p:grpSpPr>
        <p:sp>
          <p:nvSpPr>
            <p:cNvPr id="90" name="Google Shape;90;g3fa829aa49b_0_0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a829aa49b_0_0"/>
            <p:cNvSpPr txBox="1"/>
            <p:nvPr/>
          </p:nvSpPr>
          <p:spPr>
            <a:xfrm>
              <a:off x="0" y="-19050"/>
              <a:ext cx="119400" cy="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g3fa829aa49b_0_0"/>
          <p:cNvSpPr txBox="1"/>
          <p:nvPr/>
        </p:nvSpPr>
        <p:spPr>
          <a:xfrm>
            <a:off x="2606671" y="4570324"/>
            <a:ext cx="60762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11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Fueld</a:t>
            </a:r>
            <a:endParaRPr/>
          </a:p>
        </p:txBody>
      </p:sp>
      <p:sp>
        <p:nvSpPr>
          <p:cNvPr id="93" name="Google Shape;93;g3fa829aa49b_0_0"/>
          <p:cNvSpPr txBox="1"/>
          <p:nvPr/>
        </p:nvSpPr>
        <p:spPr>
          <a:xfrm>
            <a:off x="5758675" y="4565799"/>
            <a:ext cx="72747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99" u="none" cap="none" strike="noStrike">
                <a:solidFill>
                  <a:srgbClr val="FFC259"/>
                </a:solidFill>
                <a:latin typeface="Bebas Neue"/>
                <a:ea typeface="Bebas Neue"/>
                <a:cs typeface="Bebas Neue"/>
                <a:sym typeface="Bebas Neue"/>
              </a:rPr>
              <a:t>guard</a:t>
            </a:r>
            <a:endParaRPr/>
          </a:p>
        </p:txBody>
      </p:sp>
      <p:sp>
        <p:nvSpPr>
          <p:cNvPr id="94" name="Google Shape;94;g3fa829aa49b_0_0"/>
          <p:cNvSpPr txBox="1"/>
          <p:nvPr/>
        </p:nvSpPr>
        <p:spPr>
          <a:xfrm>
            <a:off x="1399084" y="1009650"/>
            <a:ext cx="2415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/>
          </a:p>
        </p:txBody>
      </p:sp>
      <p:sp>
        <p:nvSpPr>
          <p:cNvPr id="95" name="Google Shape;95;g3fa829aa49b_0_0"/>
          <p:cNvSpPr txBox="1"/>
          <p:nvPr/>
        </p:nvSpPr>
        <p:spPr>
          <a:xfrm>
            <a:off x="3468969" y="6018110"/>
            <a:ext cx="64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FFFF"/>
                </a:solidFill>
              </a:rPr>
              <a:t>Confianza reinventada</a:t>
            </a:r>
            <a:endParaRPr/>
          </a:p>
        </p:txBody>
      </p:sp>
      <p:sp>
        <p:nvSpPr>
          <p:cNvPr id="96" name="Google Shape;96;g3fa829aa49b_0_0"/>
          <p:cNvSpPr txBox="1"/>
          <p:nvPr/>
        </p:nvSpPr>
        <p:spPr>
          <a:xfrm>
            <a:off x="1028700" y="8474534"/>
            <a:ext cx="33693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2">
                <a:solidFill>
                  <a:schemeClr val="lt1"/>
                </a:solidFill>
              </a:rPr>
              <a:t>Jhon Alfaro Flores</a:t>
            </a:r>
            <a:endParaRPr sz="1902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Esteban Fernández Huerta</a:t>
            </a:r>
            <a:endParaRPr b="0" i="0" sz="1902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2">
              <a:solidFill>
                <a:srgbClr val="FFFFFF"/>
              </a:solidFill>
            </a:endParaRPr>
          </a:p>
        </p:txBody>
      </p:sp>
      <p:grpSp>
        <p:nvGrpSpPr>
          <p:cNvPr id="97" name="Google Shape;97;g3fa829aa49b_0_0"/>
          <p:cNvGrpSpPr/>
          <p:nvPr/>
        </p:nvGrpSpPr>
        <p:grpSpPr>
          <a:xfrm>
            <a:off x="437311" y="8672167"/>
            <a:ext cx="453445" cy="167937"/>
            <a:chOff x="0" y="-19050"/>
            <a:chExt cx="119425" cy="44230"/>
          </a:xfrm>
        </p:grpSpPr>
        <p:sp>
          <p:nvSpPr>
            <p:cNvPr id="98" name="Google Shape;98;g3fa829aa49b_0_0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g3fa829aa49b_0_0"/>
            <p:cNvSpPr txBox="1"/>
            <p:nvPr/>
          </p:nvSpPr>
          <p:spPr>
            <a:xfrm>
              <a:off x="0" y="-19050"/>
              <a:ext cx="119400" cy="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g3fa829aa49b_0_0"/>
          <p:cNvGrpSpPr/>
          <p:nvPr/>
        </p:nvGrpSpPr>
        <p:grpSpPr>
          <a:xfrm>
            <a:off x="4398009" y="8672167"/>
            <a:ext cx="453445" cy="167937"/>
            <a:chOff x="0" y="-19050"/>
            <a:chExt cx="119425" cy="44230"/>
          </a:xfrm>
        </p:grpSpPr>
        <p:sp>
          <p:nvSpPr>
            <p:cNvPr id="101" name="Google Shape;101;g3fa829aa49b_0_0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a829aa49b_0_0"/>
            <p:cNvSpPr txBox="1"/>
            <p:nvPr/>
          </p:nvSpPr>
          <p:spPr>
            <a:xfrm>
              <a:off x="0" y="-19050"/>
              <a:ext cx="119400" cy="4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28689" r="28689" t="0"/>
          <a:stretch/>
        </p:blipFill>
        <p:spPr>
          <a:xfrm>
            <a:off x="0" y="0"/>
            <a:ext cx="9864879" cy="103575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2"/>
          <p:cNvGrpSpPr/>
          <p:nvPr/>
        </p:nvGrpSpPr>
        <p:grpSpPr>
          <a:xfrm rot="10800000">
            <a:off x="4278102" y="-120247"/>
            <a:ext cx="6258677" cy="10742664"/>
            <a:chOff x="0" y="-38100"/>
            <a:chExt cx="1648376" cy="282934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648376" cy="2791243"/>
            </a:xfrm>
            <a:custGeom>
              <a:rect b="b" l="l" r="r" t="t"/>
              <a:pathLst>
                <a:path extrusionOk="0" h="2791243" w="1648376">
                  <a:moveTo>
                    <a:pt x="0" y="0"/>
                  </a:moveTo>
                  <a:lnTo>
                    <a:pt x="1648376" y="0"/>
                  </a:lnTo>
                  <a:lnTo>
                    <a:pt x="1648376" y="2791243"/>
                  </a:lnTo>
                  <a:lnTo>
                    <a:pt x="0" y="279124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000000">
                    <a:alpha val="76471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1648376" cy="2829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038000" y="1018306"/>
            <a:ext cx="211999" cy="211999"/>
          </a:xfrm>
          <a:custGeom>
            <a:rect b="b" l="l" r="r" t="t"/>
            <a:pathLst>
              <a:path extrusionOk="0" h="211999" w="211999">
                <a:moveTo>
                  <a:pt x="0" y="0"/>
                </a:moveTo>
                <a:lnTo>
                  <a:pt x="212000" y="0"/>
                </a:lnTo>
                <a:lnTo>
                  <a:pt x="212000" y="212000"/>
                </a:lnTo>
                <a:lnTo>
                  <a:pt x="0" y="21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2" name="Google Shape;112;p2"/>
          <p:cNvGrpSpPr/>
          <p:nvPr/>
        </p:nvGrpSpPr>
        <p:grpSpPr>
          <a:xfrm>
            <a:off x="16805857" y="956369"/>
            <a:ext cx="453443" cy="167937"/>
            <a:chOff x="0" y="-19050"/>
            <a:chExt cx="119425" cy="4423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0" y="-19050"/>
              <a:ext cx="119425" cy="4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10536779" y="2948035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3"/>
                </a:lnTo>
                <a:lnTo>
                  <a:pt x="0" y="682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 txBox="1"/>
          <p:nvPr/>
        </p:nvSpPr>
        <p:spPr>
          <a:xfrm>
            <a:off x="11219772" y="6533648"/>
            <a:ext cx="6231600" cy="16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85" u="none" cap="none" strike="noStrike">
                <a:solidFill>
                  <a:srgbClr val="FFC259"/>
                </a:solidFill>
                <a:latin typeface="Bebas Neue"/>
                <a:ea typeface="Bebas Neue"/>
                <a:cs typeface="Bebas Neue"/>
                <a:sym typeface="Bebas Neue"/>
              </a:rPr>
              <a:t>FUELDGUARD</a:t>
            </a:r>
            <a:endParaRPr sz="400"/>
          </a:p>
        </p:txBody>
      </p:sp>
      <p:sp>
        <p:nvSpPr>
          <p:cNvPr id="117" name="Google Shape;117;p2"/>
          <p:cNvSpPr txBox="1"/>
          <p:nvPr/>
        </p:nvSpPr>
        <p:spPr>
          <a:xfrm>
            <a:off x="9329192" y="999240"/>
            <a:ext cx="2415174" cy="231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1366969" y="2871835"/>
            <a:ext cx="6335400" cy="3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16">
                <a:solidFill>
                  <a:srgbClr val="FFFFFF"/>
                </a:solidFill>
              </a:rPr>
              <a:t>¿Cómo podemos confiar en el servicio de repostaje si no podemos ver lo que realmente sucede durante la carga de combustible?</a:t>
            </a:r>
            <a:endParaRPr sz="4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959" r="959" t="0"/>
          <a:stretch/>
        </p:blipFill>
        <p:spPr>
          <a:xfrm>
            <a:off x="816283" y="389026"/>
            <a:ext cx="8771764" cy="90911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3"/>
          <p:cNvGrpSpPr/>
          <p:nvPr/>
        </p:nvGrpSpPr>
        <p:grpSpPr>
          <a:xfrm rot="-5400000">
            <a:off x="4048919" y="3817286"/>
            <a:ext cx="2938676" cy="11325835"/>
            <a:chOff x="0" y="-38100"/>
            <a:chExt cx="773972" cy="2982936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773972" cy="2944836"/>
            </a:xfrm>
            <a:custGeom>
              <a:rect b="b" l="l" r="r" t="t"/>
              <a:pathLst>
                <a:path extrusionOk="0" h="2944836" w="773972">
                  <a:moveTo>
                    <a:pt x="0" y="0"/>
                  </a:moveTo>
                  <a:lnTo>
                    <a:pt x="773972" y="0"/>
                  </a:lnTo>
                  <a:lnTo>
                    <a:pt x="773972" y="2944836"/>
                  </a:lnTo>
                  <a:lnTo>
                    <a:pt x="0" y="2944836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000000">
                    <a:alpha val="76471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38100"/>
              <a:ext cx="773972" cy="2982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3"/>
          <p:cNvSpPr/>
          <p:nvPr/>
        </p:nvSpPr>
        <p:spPr>
          <a:xfrm>
            <a:off x="15120557" y="9046301"/>
            <a:ext cx="211999" cy="211999"/>
          </a:xfrm>
          <a:custGeom>
            <a:rect b="b" l="l" r="r" t="t"/>
            <a:pathLst>
              <a:path extrusionOk="0" h="211999" w="211999">
                <a:moveTo>
                  <a:pt x="0" y="0"/>
                </a:moveTo>
                <a:lnTo>
                  <a:pt x="211999" y="0"/>
                </a:lnTo>
                <a:lnTo>
                  <a:pt x="211999" y="211999"/>
                </a:lnTo>
                <a:lnTo>
                  <a:pt x="0" y="211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8" name="Google Shape;128;p3"/>
          <p:cNvGrpSpPr/>
          <p:nvPr/>
        </p:nvGrpSpPr>
        <p:grpSpPr>
          <a:xfrm>
            <a:off x="14187880" y="1163894"/>
            <a:ext cx="453445" cy="167937"/>
            <a:chOff x="0" y="-19050"/>
            <a:chExt cx="119425" cy="4423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19050"/>
              <a:ext cx="119425" cy="4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3"/>
          <p:cNvSpPr txBox="1"/>
          <p:nvPr/>
        </p:nvSpPr>
        <p:spPr>
          <a:xfrm>
            <a:off x="12221610" y="1696367"/>
            <a:ext cx="4386000" cy="28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fraude de más de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2221600" y="4529275"/>
            <a:ext cx="4058400" cy="3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72">
                <a:solidFill>
                  <a:srgbClr val="FFC259"/>
                </a:solidFill>
                <a:latin typeface="Bebas Neue"/>
                <a:ea typeface="Bebas Neue"/>
                <a:cs typeface="Bebas Neue"/>
                <a:sym typeface="Bebas Neue"/>
              </a:rPr>
              <a:t>55 millones de pesos</a:t>
            </a:r>
            <a:endParaRPr sz="200"/>
          </a:p>
        </p:txBody>
      </p:sp>
      <p:sp>
        <p:nvSpPr>
          <p:cNvPr id="133" name="Google Shape;133;p3"/>
          <p:cNvSpPr txBox="1"/>
          <p:nvPr/>
        </p:nvSpPr>
        <p:spPr>
          <a:xfrm>
            <a:off x="15490941" y="9027251"/>
            <a:ext cx="2415174" cy="231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9144000" y="8575307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3"/>
                </a:lnTo>
                <a:lnTo>
                  <a:pt x="0" y="682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/>
          <p:nvPr/>
        </p:nvSpPr>
        <p:spPr>
          <a:xfrm>
            <a:off x="11314360" y="1559628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5913" r="5913" t="0"/>
          <a:stretch/>
        </p:blipFill>
        <p:spPr>
          <a:xfrm>
            <a:off x="7343981" y="3649757"/>
            <a:ext cx="8771764" cy="5571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4"/>
          <p:cNvGrpSpPr/>
          <p:nvPr/>
        </p:nvGrpSpPr>
        <p:grpSpPr>
          <a:xfrm rot="-5400000">
            <a:off x="10576616" y="3557967"/>
            <a:ext cx="2938676" cy="11325835"/>
            <a:chOff x="0" y="-38100"/>
            <a:chExt cx="773972" cy="2982936"/>
          </a:xfrm>
        </p:grpSpPr>
        <p:sp>
          <p:nvSpPr>
            <p:cNvPr id="142" name="Google Shape;142;p4"/>
            <p:cNvSpPr/>
            <p:nvPr/>
          </p:nvSpPr>
          <p:spPr>
            <a:xfrm>
              <a:off x="0" y="0"/>
              <a:ext cx="773972" cy="2944836"/>
            </a:xfrm>
            <a:custGeom>
              <a:rect b="b" l="l" r="r" t="t"/>
              <a:pathLst>
                <a:path extrusionOk="0" h="2944836" w="773972">
                  <a:moveTo>
                    <a:pt x="0" y="0"/>
                  </a:moveTo>
                  <a:lnTo>
                    <a:pt x="773972" y="0"/>
                  </a:lnTo>
                  <a:lnTo>
                    <a:pt x="773972" y="2944836"/>
                  </a:lnTo>
                  <a:lnTo>
                    <a:pt x="0" y="2944836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000000">
                    <a:alpha val="76471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43" name="Google Shape;143;p4"/>
            <p:cNvSpPr txBox="1"/>
            <p:nvPr/>
          </p:nvSpPr>
          <p:spPr>
            <a:xfrm>
              <a:off x="0" y="-38100"/>
              <a:ext cx="773972" cy="29829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4"/>
          <p:cNvSpPr/>
          <p:nvPr/>
        </p:nvSpPr>
        <p:spPr>
          <a:xfrm>
            <a:off x="16477580" y="9759815"/>
            <a:ext cx="211999" cy="211999"/>
          </a:xfrm>
          <a:custGeom>
            <a:rect b="b" l="l" r="r" t="t"/>
            <a:pathLst>
              <a:path extrusionOk="0" h="211999" w="211999">
                <a:moveTo>
                  <a:pt x="0" y="0"/>
                </a:moveTo>
                <a:lnTo>
                  <a:pt x="211999" y="0"/>
                </a:lnTo>
                <a:lnTo>
                  <a:pt x="211999" y="212000"/>
                </a:lnTo>
                <a:lnTo>
                  <a:pt x="0" y="21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" name="Google Shape;145;p4"/>
          <p:cNvGrpSpPr/>
          <p:nvPr/>
        </p:nvGrpSpPr>
        <p:grpSpPr>
          <a:xfrm>
            <a:off x="4600111" y="3577426"/>
            <a:ext cx="453443" cy="167937"/>
            <a:chOff x="0" y="-19050"/>
            <a:chExt cx="119425" cy="44230"/>
          </a:xfrm>
        </p:grpSpPr>
        <p:sp>
          <p:nvSpPr>
            <p:cNvPr id="146" name="Google Shape;146;p4"/>
            <p:cNvSpPr/>
            <p:nvPr/>
          </p:nvSpPr>
          <p:spPr>
            <a:xfrm>
              <a:off x="0" y="0"/>
              <a:ext cx="119425" cy="25180"/>
            </a:xfrm>
            <a:custGeom>
              <a:rect b="b" l="l" r="r" t="t"/>
              <a:pathLst>
                <a:path extrusionOk="0" h="25180" w="119425">
                  <a:moveTo>
                    <a:pt x="12590" y="0"/>
                  </a:moveTo>
                  <a:lnTo>
                    <a:pt x="106835" y="0"/>
                  </a:lnTo>
                  <a:cubicBezTo>
                    <a:pt x="110174" y="0"/>
                    <a:pt x="113377" y="1326"/>
                    <a:pt x="115738" y="3688"/>
                  </a:cubicBezTo>
                  <a:cubicBezTo>
                    <a:pt x="118099" y="6049"/>
                    <a:pt x="119425" y="9251"/>
                    <a:pt x="119425" y="12590"/>
                  </a:cubicBezTo>
                  <a:lnTo>
                    <a:pt x="119425" y="12590"/>
                  </a:lnTo>
                  <a:cubicBezTo>
                    <a:pt x="119425" y="15929"/>
                    <a:pt x="118099" y="19132"/>
                    <a:pt x="115738" y="21493"/>
                  </a:cubicBezTo>
                  <a:cubicBezTo>
                    <a:pt x="113377" y="23854"/>
                    <a:pt x="110174" y="25180"/>
                    <a:pt x="106835" y="25180"/>
                  </a:cubicBezTo>
                  <a:lnTo>
                    <a:pt x="12590" y="25180"/>
                  </a:lnTo>
                  <a:cubicBezTo>
                    <a:pt x="9251" y="25180"/>
                    <a:pt x="6049" y="23854"/>
                    <a:pt x="3688" y="21493"/>
                  </a:cubicBezTo>
                  <a:cubicBezTo>
                    <a:pt x="1326" y="19132"/>
                    <a:pt x="0" y="15929"/>
                    <a:pt x="0" y="12590"/>
                  </a:cubicBezTo>
                  <a:lnTo>
                    <a:pt x="0" y="12590"/>
                  </a:lnTo>
                  <a:cubicBezTo>
                    <a:pt x="0" y="9251"/>
                    <a:pt x="1326" y="6049"/>
                    <a:pt x="3688" y="3688"/>
                  </a:cubicBezTo>
                  <a:cubicBezTo>
                    <a:pt x="6049" y="1326"/>
                    <a:pt x="9251" y="0"/>
                    <a:pt x="12590" y="0"/>
                  </a:cubicBezTo>
                  <a:close/>
                </a:path>
              </a:pathLst>
            </a:custGeom>
            <a:solidFill>
              <a:srgbClr val="FFC2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-19050"/>
              <a:ext cx="119425" cy="44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9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4"/>
          <p:cNvSpPr/>
          <p:nvPr/>
        </p:nvSpPr>
        <p:spPr>
          <a:xfrm>
            <a:off x="15671697" y="8315988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3"/>
                </a:lnTo>
                <a:lnTo>
                  <a:pt x="0" y="682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4"/>
          <p:cNvSpPr/>
          <p:nvPr/>
        </p:nvSpPr>
        <p:spPr>
          <a:xfrm>
            <a:off x="1726641" y="4180685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2"/>
                </a:lnTo>
                <a:lnTo>
                  <a:pt x="0" y="682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2743207" y="1028700"/>
            <a:ext cx="13087915" cy="2198080"/>
          </a:xfrm>
          <a:custGeom>
            <a:rect b="b" l="l" r="r" t="t"/>
            <a:pathLst>
              <a:path extrusionOk="0" h="2198080" w="13087915">
                <a:moveTo>
                  <a:pt x="0" y="0"/>
                </a:moveTo>
                <a:lnTo>
                  <a:pt x="13087915" y="0"/>
                </a:lnTo>
                <a:lnTo>
                  <a:pt x="13087915" y="2198080"/>
                </a:lnTo>
                <a:lnTo>
                  <a:pt x="0" y="2198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649" l="0" r="0" t="-649"/>
            </a:stretch>
          </a:blipFill>
          <a:ln>
            <a:noFill/>
          </a:ln>
        </p:spPr>
      </p:sp>
      <p:sp>
        <p:nvSpPr>
          <p:cNvPr id="151" name="Google Shape;151;p4"/>
          <p:cNvSpPr txBox="1"/>
          <p:nvPr/>
        </p:nvSpPr>
        <p:spPr>
          <a:xfrm>
            <a:off x="2633891" y="4203124"/>
            <a:ext cx="4386000" cy="25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SEC clausuró una estación en Santiago por</a:t>
            </a:r>
            <a:endParaRPr sz="700"/>
          </a:p>
        </p:txBody>
      </p:sp>
      <p:sp>
        <p:nvSpPr>
          <p:cNvPr id="152" name="Google Shape;152;p4"/>
          <p:cNvSpPr txBox="1"/>
          <p:nvPr/>
        </p:nvSpPr>
        <p:spPr>
          <a:xfrm>
            <a:off x="2633891" y="6608649"/>
            <a:ext cx="4386000" cy="29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99">
                <a:solidFill>
                  <a:srgbClr val="FFC259"/>
                </a:solidFill>
                <a:latin typeface="Bebas Neue"/>
                <a:ea typeface="Bebas Neue"/>
                <a:cs typeface="Bebas Neue"/>
                <a:sym typeface="Bebas Neue"/>
              </a:rPr>
              <a:t>venta de combustible adulterado</a:t>
            </a:r>
            <a:endParaRPr sz="400"/>
          </a:p>
        </p:txBody>
      </p:sp>
      <p:sp>
        <p:nvSpPr>
          <p:cNvPr id="153" name="Google Shape;153;p4"/>
          <p:cNvSpPr txBox="1"/>
          <p:nvPr/>
        </p:nvSpPr>
        <p:spPr>
          <a:xfrm>
            <a:off x="16780824" y="9740765"/>
            <a:ext cx="2415174" cy="231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1726641" y="1028700"/>
            <a:ext cx="682993" cy="682993"/>
          </a:xfrm>
          <a:custGeom>
            <a:rect b="b" l="l" r="r" t="t"/>
            <a:pathLst>
              <a:path extrusionOk="0" h="682993" w="682993">
                <a:moveTo>
                  <a:pt x="0" y="0"/>
                </a:moveTo>
                <a:lnTo>
                  <a:pt x="682993" y="0"/>
                </a:lnTo>
                <a:lnTo>
                  <a:pt x="682993" y="682993"/>
                </a:lnTo>
                <a:lnTo>
                  <a:pt x="0" y="682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oto_station_day.jpg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9966960" cy="8275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 Proyecto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7830805" y="660495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0881360" y="1417320"/>
            <a:ext cx="6949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es FueldGuard?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0881360" y="1965960"/>
            <a:ext cx="6949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Plataforma web/móvil, autónoma e independiente, que audita en tiempo real cargas de combustible sin requerir integraciones ni permisos de las estaciones de servicio.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descr="icon_camera.png" id="166" name="Google Shape;1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360" y="3977639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11658600" y="3950207"/>
            <a:ext cx="612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Surtidor + OCR</a:t>
            </a:r>
            <a:endParaRPr sz="1700"/>
          </a:p>
        </p:txBody>
      </p:sp>
      <p:sp>
        <p:nvSpPr>
          <p:cNvPr id="168" name="Google Shape;168;p5"/>
          <p:cNvSpPr txBox="1"/>
          <p:nvPr/>
        </p:nvSpPr>
        <p:spPr>
          <a:xfrm>
            <a:off x="11658600" y="4288536"/>
            <a:ext cx="6126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Foto del display; extracción automática de litros y monto.</a:t>
            </a:r>
            <a:endParaRPr sz="1700"/>
          </a:p>
        </p:txBody>
      </p:sp>
      <p:pic>
        <p:nvPicPr>
          <p:cNvPr descr="icon_microchip.png" id="169" name="Google Shape;1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81360" y="502920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11658600" y="5001768"/>
            <a:ext cx="612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Telemetría OBD-II</a:t>
            </a:r>
            <a:endParaRPr sz="1700"/>
          </a:p>
        </p:txBody>
      </p:sp>
      <p:sp>
        <p:nvSpPr>
          <p:cNvPr id="171" name="Google Shape;171;p5"/>
          <p:cNvSpPr txBox="1"/>
          <p:nvPr/>
        </p:nvSpPr>
        <p:spPr>
          <a:xfrm>
            <a:off x="11658600" y="5340096"/>
            <a:ext cx="6126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Lectura del PID de nivel del estanque; incremento real de volumen.</a:t>
            </a:r>
            <a:endParaRPr sz="1700"/>
          </a:p>
        </p:txBody>
      </p:sp>
      <p:pic>
        <p:nvPicPr>
          <p:cNvPr descr="icon_scale.png" id="172" name="Google Shape;17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81360" y="608076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11658600" y="6053328"/>
            <a:ext cx="612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Motor Metrológico</a:t>
            </a:r>
            <a:endParaRPr sz="1700"/>
          </a:p>
        </p:txBody>
      </p:sp>
      <p:sp>
        <p:nvSpPr>
          <p:cNvPr id="174" name="Google Shape;174;p5"/>
          <p:cNvSpPr txBox="1"/>
          <p:nvPr/>
        </p:nvSpPr>
        <p:spPr>
          <a:xfrm>
            <a:off x="11658600" y="6391656"/>
            <a:ext cx="6126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Contraste de ambas fuentes </a:t>
            </a:r>
            <a:endParaRPr sz="1700"/>
          </a:p>
        </p:txBody>
      </p:sp>
      <p:pic>
        <p:nvPicPr>
          <p:cNvPr descr="icon_certificate.png" id="175" name="Google Shape;17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1360" y="713232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11658600" y="7104888"/>
            <a:ext cx="6126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700"/>
          </a:p>
        </p:txBody>
      </p:sp>
      <p:sp>
        <p:nvSpPr>
          <p:cNvPr id="177" name="Google Shape;177;p5"/>
          <p:cNvSpPr txBox="1"/>
          <p:nvPr/>
        </p:nvSpPr>
        <p:spPr>
          <a:xfrm>
            <a:off x="11658600" y="7443216"/>
            <a:ext cx="6126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Certificado digital o alerta, con sello de tiempo y GPS.</a:t>
            </a:r>
            <a:endParaRPr sz="1700"/>
          </a:p>
        </p:txBody>
      </p:sp>
      <p:sp>
        <p:nvSpPr>
          <p:cNvPr id="178" name="Google Shape;178;p5"/>
          <p:cNvSpPr/>
          <p:nvPr/>
        </p:nvSpPr>
        <p:spPr>
          <a:xfrm>
            <a:off x="10881360" y="8229600"/>
            <a:ext cx="694944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0789860" y="3621000"/>
            <a:ext cx="6949500" cy="18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0226455" y="585945"/>
            <a:ext cx="749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7785080" y="731520"/>
            <a:ext cx="320040" cy="4572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502920" y="2691208"/>
            <a:ext cx="5669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ASIMETRÍA DE INFORMACIÓN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365760" y="3102688"/>
            <a:ext cx="60351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502920" y="5480128"/>
            <a:ext cx="5486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los costos operacionales de flotas de transporte y logística corresponde a combustible.</a:t>
            </a:r>
            <a:endParaRPr sz="1800"/>
          </a:p>
        </p:txBody>
      </p:sp>
      <p:sp>
        <p:nvSpPr>
          <p:cNvPr id="193" name="Google Shape;193;p6"/>
          <p:cNvSpPr/>
          <p:nvPr/>
        </p:nvSpPr>
        <p:spPr>
          <a:xfrm>
            <a:off x="6720949" y="1737352"/>
            <a:ext cx="63900" cy="5770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15251" y="7960100"/>
            <a:ext cx="16660800" cy="141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1392267" y="8311067"/>
            <a:ext cx="15723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Problema central: </a:t>
            </a:r>
            <a:r>
              <a:rPr i="1" lang="en-US" sz="1950">
                <a:solidFill>
                  <a:srgbClr val="FFC259"/>
                </a:solidFill>
              </a:rPr>
              <a:t>N</a:t>
            </a:r>
            <a:r>
              <a:rPr b="0" i="1" lang="en-US" sz="19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 existe un mecanismo independiente que valide si el volumen cobrado en la bomba coincide con el volumen real ingresado al estanque del vehículo.</a:t>
            </a:r>
            <a:endParaRPr sz="2000"/>
          </a:p>
        </p:txBody>
      </p:sp>
      <p:sp>
        <p:nvSpPr>
          <p:cNvPr id="196" name="Google Shape;196;p6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id="198" name="Google Shape;198;p6"/>
          <p:cNvPicPr preferRelativeResize="0"/>
          <p:nvPr/>
        </p:nvPicPr>
        <p:blipFill rotWithShape="1">
          <a:blip r:embed="rId3">
            <a:alphaModFix/>
          </a:blip>
          <a:srcRect b="0" l="3473" r="3908" t="0"/>
          <a:stretch/>
        </p:blipFill>
        <p:spPr>
          <a:xfrm>
            <a:off x="3395946" y="2595975"/>
            <a:ext cx="2776250" cy="2997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3107" y="2186488"/>
            <a:ext cx="7219669" cy="48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/>
        </p:nvSpPr>
        <p:spPr>
          <a:xfrm>
            <a:off x="502923" y="384050"/>
            <a:ext cx="3810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502924" y="621800"/>
            <a:ext cx="3894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12969928" y="502925"/>
            <a:ext cx="476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17785080" y="626308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02924" y="1417325"/>
            <a:ext cx="861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cap="none" strike="noStrike">
                <a:solidFill>
                  <a:srgbClr val="FFC259"/>
                </a:solidFill>
              </a:rPr>
              <a:t>Auditoría neutral, autónoma y verificable</a:t>
            </a:r>
            <a:endParaRPr b="1" sz="2100">
              <a:solidFill>
                <a:srgbClr val="FFC259"/>
              </a:solidFill>
            </a:endParaRPr>
          </a:p>
        </p:txBody>
      </p:sp>
      <p:pic>
        <p:nvPicPr>
          <p:cNvPr descr="icon_shield.png" id="209" name="Google Shape;2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331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502920" y="320040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Auditoría Neutral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502920" y="3657600"/>
            <a:ext cx="5623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100% autónoma: no requiere conectividad ni permisos previos de las estaciones de servicio.</a:t>
            </a:r>
            <a:endParaRPr sz="1700"/>
          </a:p>
        </p:txBody>
      </p:sp>
      <p:pic>
        <p:nvPicPr>
          <p:cNvPr descr="icon_certificate.png"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331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 txBox="1"/>
          <p:nvPr/>
        </p:nvSpPr>
        <p:spPr>
          <a:xfrm>
            <a:off x="6446520" y="320040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Certificado Digital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6446520" y="3657600"/>
            <a:ext cx="5623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Inalterable, con sello de tiempo y coordenadas GPS del evento; prueba irrefutable.</a:t>
            </a:r>
            <a:endParaRPr sz="1700"/>
          </a:p>
        </p:txBody>
      </p:sp>
      <p:pic>
        <p:nvPicPr>
          <p:cNvPr descr="icon_dashboard.png" id="215" name="Google Shape;2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90120" y="23317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12390120" y="3200400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B2B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2390120" y="3657600"/>
            <a:ext cx="5623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Gestión de flotas, historial de cargas y monitoreo de inconsistencias metrológicas en tiempo real.</a:t>
            </a:r>
            <a:endParaRPr sz="1700"/>
          </a:p>
        </p:txBody>
      </p:sp>
      <p:sp>
        <p:nvSpPr>
          <p:cNvPr id="218" name="Google Shape;218;p7"/>
          <p:cNvSpPr txBox="1"/>
          <p:nvPr/>
        </p:nvSpPr>
        <p:spPr>
          <a:xfrm>
            <a:off x="13075925" y="5138216"/>
            <a:ext cx="3136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9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Beneficios Clave</a:t>
            </a:r>
            <a:endParaRPr sz="1800"/>
          </a:p>
        </p:txBody>
      </p:sp>
      <p:pic>
        <p:nvPicPr>
          <p:cNvPr descr="image.png" id="219" name="Google Shape;21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69919" y="5764554"/>
            <a:ext cx="249443" cy="2494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13289926" y="5749881"/>
            <a:ext cx="3363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Transparencia total antes y después del pago de combustible</a:t>
            </a:r>
            <a:endParaRPr sz="1400"/>
          </a:p>
        </p:txBody>
      </p:sp>
      <p:pic>
        <p:nvPicPr>
          <p:cNvPr descr="image.png" id="221" name="Google Shape;2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69919" y="6402836"/>
            <a:ext cx="249443" cy="24944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13289926" y="6388162"/>
            <a:ext cx="3363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Reducción de fraudes y cobros erróneos en flotas</a:t>
            </a:r>
            <a:endParaRPr sz="1400"/>
          </a:p>
        </p:txBody>
      </p:sp>
      <p:pic>
        <p:nvPicPr>
          <p:cNvPr descr="image.png" id="223" name="Google Shape;22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69917" y="7041104"/>
            <a:ext cx="249443" cy="24944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 txBox="1"/>
          <p:nvPr/>
        </p:nvSpPr>
        <p:spPr>
          <a:xfrm>
            <a:off x="13289924" y="7026431"/>
            <a:ext cx="3363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Certeza metrológica independiente bajo el estándar SAE J1979</a:t>
            </a:r>
            <a:endParaRPr sz="1400"/>
          </a:p>
        </p:txBody>
      </p:sp>
      <p:pic>
        <p:nvPicPr>
          <p:cNvPr descr="image.png" id="225" name="Google Shape;22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69917" y="7679386"/>
            <a:ext cx="249443" cy="24944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7"/>
          <p:cNvSpPr txBox="1"/>
          <p:nvPr/>
        </p:nvSpPr>
        <p:spPr>
          <a:xfrm>
            <a:off x="13289924" y="7664712"/>
            <a:ext cx="3363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 nacional sin depender de infraestructura de terceros</a:t>
            </a:r>
            <a:endParaRPr sz="1400"/>
          </a:p>
        </p:txBody>
      </p:sp>
      <p:sp>
        <p:nvSpPr>
          <p:cNvPr id="227" name="Google Shape;227;p7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pic>
        <p:nvPicPr>
          <p:cNvPr id="229" name="Google Shape;229;p7"/>
          <p:cNvPicPr preferRelativeResize="0"/>
          <p:nvPr/>
        </p:nvPicPr>
        <p:blipFill rotWithShape="1">
          <a:blip r:embed="rId7">
            <a:alphaModFix/>
          </a:blip>
          <a:srcRect b="15639" l="0" r="0" t="15646"/>
          <a:stretch/>
        </p:blipFill>
        <p:spPr>
          <a:xfrm>
            <a:off x="0" y="4741025"/>
            <a:ext cx="12390126" cy="556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17785030" y="660433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502937" y="1417325"/>
            <a:ext cx="17136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700"/>
          </a:p>
        </p:txBody>
      </p:sp>
      <p:sp>
        <p:nvSpPr>
          <p:cNvPr id="239" name="Google Shape;239;p8"/>
          <p:cNvSpPr txBox="1"/>
          <p:nvPr/>
        </p:nvSpPr>
        <p:spPr>
          <a:xfrm>
            <a:off x="502920" y="1828800"/>
            <a:ext cx="172821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lt1"/>
                </a:solidFill>
              </a:rPr>
              <a:t>Desarrollar e implementar una plataforma SaaS de auditoría de cargas de combustible, integrando procesamiento OCR, telemetría vehicular OBD-II e infraestructura simulada (mocking), en un plazo de 12 semanas.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502936" y="3520450"/>
            <a:ext cx="1741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1600"/>
          </a:p>
        </p:txBody>
      </p:sp>
      <p:sp>
        <p:nvSpPr>
          <p:cNvPr id="241" name="Google Shape;241;p8"/>
          <p:cNvSpPr/>
          <p:nvPr/>
        </p:nvSpPr>
        <p:spPr>
          <a:xfrm>
            <a:off x="502920" y="4069080"/>
            <a:ext cx="4160520" cy="50749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layers.png"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343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 txBox="1"/>
          <p:nvPr/>
        </p:nvSpPr>
        <p:spPr>
          <a:xfrm>
            <a:off x="777240" y="5120640"/>
            <a:ext cx="36118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OE1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777240" y="5468112"/>
            <a:ext cx="361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Optimización de Rendimiento</a:t>
            </a:r>
            <a:endParaRPr sz="1600"/>
          </a:p>
        </p:txBody>
      </p:sp>
      <p:sp>
        <p:nvSpPr>
          <p:cNvPr id="245" name="Google Shape;245;p8"/>
          <p:cNvSpPr txBox="1"/>
          <p:nvPr/>
        </p:nvSpPr>
        <p:spPr>
          <a:xfrm>
            <a:off x="777240" y="6446520"/>
            <a:ext cx="36120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C9C9C9"/>
                </a:solidFill>
              </a:rPr>
              <a:t>Optimizar el tiempo de disponibilidad de datos, logrando tiempos de respuesta del sistema inferiores a 2 segundos durante las pruebas de carga y estrés del prototipo.</a:t>
            </a:r>
            <a:endParaRPr sz="1700"/>
          </a:p>
        </p:txBody>
      </p:sp>
      <p:sp>
        <p:nvSpPr>
          <p:cNvPr id="246" name="Google Shape;246;p8"/>
          <p:cNvSpPr/>
          <p:nvPr/>
        </p:nvSpPr>
        <p:spPr>
          <a:xfrm>
            <a:off x="4919472" y="4069080"/>
            <a:ext cx="4160520" cy="50749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camera.png" id="247" name="Google Shape;2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3792" y="4343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5193792" y="5120640"/>
            <a:ext cx="36118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OE2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5193792" y="5468112"/>
            <a:ext cx="361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Reducción de Errores (OCR)</a:t>
            </a:r>
            <a:endParaRPr sz="1600"/>
          </a:p>
        </p:txBody>
      </p:sp>
      <p:sp>
        <p:nvSpPr>
          <p:cNvPr id="250" name="Google Shape;250;p8"/>
          <p:cNvSpPr txBox="1"/>
          <p:nvPr/>
        </p:nvSpPr>
        <p:spPr>
          <a:xfrm>
            <a:off x="5193792" y="6446520"/>
            <a:ext cx="36120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C9C9C9"/>
                </a:solidFill>
              </a:rPr>
              <a:t>Reducir el margen de error en el registro de comprobantes a menos del 5% mediante lectura OCR, evaluado sobre un set de control de imágenes de prueba al finalizar el desarrollo.</a:t>
            </a:r>
            <a:endParaRPr sz="1700"/>
          </a:p>
        </p:txBody>
      </p:sp>
      <p:sp>
        <p:nvSpPr>
          <p:cNvPr id="251" name="Google Shape;251;p8"/>
          <p:cNvSpPr/>
          <p:nvPr/>
        </p:nvSpPr>
        <p:spPr>
          <a:xfrm>
            <a:off x="9336024" y="4069080"/>
            <a:ext cx="4160520" cy="50749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react.png" id="252" name="Google Shape;2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44" y="4343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 txBox="1"/>
          <p:nvPr/>
        </p:nvSpPr>
        <p:spPr>
          <a:xfrm>
            <a:off x="9610344" y="5120640"/>
            <a:ext cx="36118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OE3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9610344" y="5468112"/>
            <a:ext cx="361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Eficiencia Administrativa B2B</a:t>
            </a:r>
            <a:endParaRPr sz="1600"/>
          </a:p>
        </p:txBody>
      </p:sp>
      <p:sp>
        <p:nvSpPr>
          <p:cNvPr id="255" name="Google Shape;255;p8"/>
          <p:cNvSpPr txBox="1"/>
          <p:nvPr/>
        </p:nvSpPr>
        <p:spPr>
          <a:xfrm>
            <a:off x="9610344" y="6446520"/>
            <a:ext cx="36120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C9C9C9"/>
                </a:solidFill>
              </a:rPr>
              <a:t>Disminuir en un 40% el tiempo de generación de reportes de auditoría, medido mediante la comparación del nuevo flujo automatizado del Dashboard versus el proceso manual tradicional.</a:t>
            </a:r>
            <a:endParaRPr sz="1700"/>
          </a:p>
        </p:txBody>
      </p:sp>
      <p:sp>
        <p:nvSpPr>
          <p:cNvPr id="256" name="Google Shape;256;p8"/>
          <p:cNvSpPr/>
          <p:nvPr/>
        </p:nvSpPr>
        <p:spPr>
          <a:xfrm>
            <a:off x="13752576" y="4069080"/>
            <a:ext cx="4160520" cy="50749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clipboard.png" id="257" name="Google Shape;25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26896" y="4343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/>
        </p:nvSpPr>
        <p:spPr>
          <a:xfrm>
            <a:off x="14026896" y="5120640"/>
            <a:ext cx="36118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OE4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14026896" y="5468112"/>
            <a:ext cx="361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Fiabilidad del Motor Metrológico</a:t>
            </a:r>
            <a:endParaRPr sz="1600"/>
          </a:p>
        </p:txBody>
      </p:sp>
      <p:sp>
        <p:nvSpPr>
          <p:cNvPr id="260" name="Google Shape;260;p8"/>
          <p:cNvSpPr txBox="1"/>
          <p:nvPr/>
        </p:nvSpPr>
        <p:spPr>
          <a:xfrm>
            <a:off x="14026896" y="6446520"/>
            <a:ext cx="3612000" cy="1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C9C9C9"/>
                </a:solidFill>
              </a:rPr>
              <a:t>Garantizar la precisión del motor metrológico, asegurando una tasa de detección de anomalías superior al 95% aplicada sobre los escenarios de prueba con telemetría simulada (mocking).</a:t>
            </a:r>
            <a:endParaRPr sz="1700"/>
          </a:p>
        </p:txBody>
      </p:sp>
      <p:sp>
        <p:nvSpPr>
          <p:cNvPr id="261" name="Google Shape;261;p8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 y Limitaciones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7830805" y="660508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check.png" id="271" name="Google Shape;2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91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1234440" y="1783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/>
          </a:p>
        </p:txBody>
      </p:sp>
      <p:pic>
        <p:nvPicPr>
          <p:cNvPr descr="image.png" id="273" name="Google Shape;2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/>
        </p:nvSpPr>
        <p:spPr>
          <a:xfrm>
            <a:off x="978408" y="2514600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Prototipo funcional Fullstack (Web/Móvil)</a:t>
            </a:r>
            <a:endParaRPr sz="2200"/>
          </a:p>
        </p:txBody>
      </p:sp>
      <p:pic>
        <p:nvPicPr>
          <p:cNvPr descr="image.png" id="275" name="Google Shape;2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4198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/>
        </p:nvSpPr>
        <p:spPr>
          <a:xfrm>
            <a:off x="978408" y="3401568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OCR para lectura del surtidor</a:t>
            </a:r>
            <a:endParaRPr sz="2200"/>
          </a:p>
        </p:txBody>
      </p:sp>
      <p:pic>
        <p:nvPicPr>
          <p:cNvPr descr="image.png" id="277" name="Google Shape;2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4306823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 txBox="1"/>
          <p:nvPr/>
        </p:nvSpPr>
        <p:spPr>
          <a:xfrm>
            <a:off x="978408" y="4288536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Simulación de telemetría OBD-II (mocking daemon)</a:t>
            </a:r>
            <a:endParaRPr sz="2200"/>
          </a:p>
        </p:txBody>
      </p:sp>
      <p:pic>
        <p:nvPicPr>
          <p:cNvPr descr="image.png" id="279" name="Google Shape;2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519379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 txBox="1"/>
          <p:nvPr/>
        </p:nvSpPr>
        <p:spPr>
          <a:xfrm>
            <a:off x="978408" y="5175503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Motor de cálculo y validación metrológica</a:t>
            </a:r>
            <a:endParaRPr sz="2200"/>
          </a:p>
        </p:txBody>
      </p:sp>
      <p:pic>
        <p:nvPicPr>
          <p:cNvPr descr="image.png" id="281" name="Google Shape;2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6080759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9"/>
          <p:cNvSpPr txBox="1"/>
          <p:nvPr/>
        </p:nvSpPr>
        <p:spPr>
          <a:xfrm>
            <a:off x="978408" y="6062471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B2B con métricas y certificados</a:t>
            </a:r>
            <a:endParaRPr sz="2200"/>
          </a:p>
        </p:txBody>
      </p:sp>
      <p:pic>
        <p:nvPicPr>
          <p:cNvPr descr="image.png" id="283" name="Google Shape;2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6967727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 txBox="1"/>
          <p:nvPr/>
        </p:nvSpPr>
        <p:spPr>
          <a:xfrm>
            <a:off x="978408" y="6949439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Empaquetamiento y despliegue con Docker Compose</a:t>
            </a:r>
            <a:endParaRPr sz="2200"/>
          </a:p>
        </p:txBody>
      </p:sp>
      <p:sp>
        <p:nvSpPr>
          <p:cNvPr id="285" name="Google Shape;285;p9"/>
          <p:cNvSpPr/>
          <p:nvPr/>
        </p:nvSpPr>
        <p:spPr>
          <a:xfrm>
            <a:off x="9043465" y="1233385"/>
            <a:ext cx="18300" cy="7315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warning.png" id="286" name="Google Shape;2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920" y="16916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10378440" y="1783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/>
          </a:p>
        </p:txBody>
      </p:sp>
      <p:pic>
        <p:nvPicPr>
          <p:cNvPr descr="image.png" id="288" name="Google Shape;2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6920" y="253288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/>
        </p:nvSpPr>
        <p:spPr>
          <a:xfrm>
            <a:off x="10122408" y="2514600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integración física directa con surtidores industriales</a:t>
            </a:r>
            <a:endParaRPr sz="2200"/>
          </a:p>
        </p:txBody>
      </p:sp>
      <p:pic>
        <p:nvPicPr>
          <p:cNvPr descr="image.png" id="290" name="Google Shape;2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6920" y="351129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 txBox="1"/>
          <p:nvPr/>
        </p:nvSpPr>
        <p:spPr>
          <a:xfrm>
            <a:off x="10122408" y="3493008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Telemetría simulada; no hay hardware real en el prototipo</a:t>
            </a:r>
            <a:endParaRPr sz="2200"/>
          </a:p>
        </p:txBody>
      </p:sp>
      <p:pic>
        <p:nvPicPr>
          <p:cNvPr descr="image.png" id="292" name="Google Shape;2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6920" y="4489703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 txBox="1"/>
          <p:nvPr/>
        </p:nvSpPr>
        <p:spPr>
          <a:xfrm>
            <a:off x="10122408" y="4471416"/>
            <a:ext cx="74799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Lectura OCR dependiente de la calidad de la foto (fallback manual)</a:t>
            </a:r>
            <a:endParaRPr sz="2200"/>
          </a:p>
        </p:txBody>
      </p:sp>
      <p:pic>
        <p:nvPicPr>
          <p:cNvPr descr="image.png" id="294" name="Google Shape;2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6920" y="5468111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/>
        </p:nvSpPr>
        <p:spPr>
          <a:xfrm>
            <a:off x="10122408" y="5449823"/>
            <a:ext cx="747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Precisión condicionada por la calidad de los datos capturados</a:t>
            </a:r>
            <a:endParaRPr sz="2200"/>
          </a:p>
        </p:txBody>
      </p:sp>
      <p:sp>
        <p:nvSpPr>
          <p:cNvPr id="296" name="Google Shape;296;p9"/>
          <p:cNvSpPr/>
          <p:nvPr/>
        </p:nvSpPr>
        <p:spPr>
          <a:xfrm>
            <a:off x="457195" y="8982480"/>
            <a:ext cx="17373600" cy="7773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777235" y="9147072"/>
            <a:ext cx="1673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Alcance de Fase 1: prototipo académico, no producción.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305" name="Google Shape;305;p10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17785080" y="658345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502920" y="1417320"/>
            <a:ext cx="12801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5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Scrum ágil adaptado a 12 semanas · 6 sprints de 2 semanas</a:t>
            </a:r>
            <a:endParaRPr sz="1700"/>
          </a:p>
        </p:txBody>
      </p:sp>
      <p:pic>
        <p:nvPicPr>
          <p:cNvPr descr="icon_clipboard.png" id="309" name="Google Shape;3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08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0"/>
          <p:cNvSpPr txBox="1"/>
          <p:nvPr/>
        </p:nvSpPr>
        <p:spPr>
          <a:xfrm>
            <a:off x="502920" y="30632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3749040" y="219456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userscog.png" id="312" name="Google Shape;31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0"/>
          <p:cNvSpPr txBox="1"/>
          <p:nvPr/>
        </p:nvSpPr>
        <p:spPr>
          <a:xfrm>
            <a:off x="3977640" y="30632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Daily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Standup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7223760" y="219456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code2.png" id="315" name="Google Shape;3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3252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 txBox="1"/>
          <p:nvPr/>
        </p:nvSpPr>
        <p:spPr>
          <a:xfrm>
            <a:off x="7452360" y="30632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Testing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10698480" y="219456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chartline.png" id="318" name="Google Shape;3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072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 txBox="1"/>
          <p:nvPr/>
        </p:nvSpPr>
        <p:spPr>
          <a:xfrm>
            <a:off x="10927080" y="30632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14173200" y="219456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refresh.png" id="321" name="Google Shape;32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8196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0"/>
          <p:cNvSpPr txBox="1"/>
          <p:nvPr/>
        </p:nvSpPr>
        <p:spPr>
          <a:xfrm>
            <a:off x="14401800" y="30632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Retrospectiva</a:t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502920" y="4160520"/>
            <a:ext cx="173736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502920" y="4389120"/>
            <a:ext cx="1728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Control de versiones: GitFlow (ramas main, develop y feature) con revisión cruzada vía Pull Requests, más un pipeline de CI/CD que ejecuta pruebas y build en cada push.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502920" y="5440680"/>
            <a:ext cx="731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Roles del Equipo</a:t>
            </a:r>
            <a:endParaRPr sz="2000"/>
          </a:p>
        </p:txBody>
      </p:sp>
      <p:sp>
        <p:nvSpPr>
          <p:cNvPr id="326" name="Google Shape;326;p10"/>
          <p:cNvSpPr/>
          <p:nvPr/>
        </p:nvSpPr>
        <p:spPr>
          <a:xfrm>
            <a:off x="502920" y="6035040"/>
            <a:ext cx="17373600" cy="14173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822960" y="6199631"/>
            <a:ext cx="594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Jhon Alfaro Flores</a:t>
            </a:r>
            <a:endParaRPr sz="2000"/>
          </a:p>
        </p:txBody>
      </p:sp>
      <p:sp>
        <p:nvSpPr>
          <p:cNvPr id="328" name="Google Shape;328;p10"/>
          <p:cNvSpPr txBox="1"/>
          <p:nvPr/>
        </p:nvSpPr>
        <p:spPr>
          <a:xfrm>
            <a:off x="822960" y="6601968"/>
            <a:ext cx="5943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Backend &amp; Data Engineer</a:t>
            </a:r>
            <a:endParaRPr sz="2000"/>
          </a:p>
        </p:txBody>
      </p:sp>
      <p:sp>
        <p:nvSpPr>
          <p:cNvPr id="329" name="Google Shape;329;p10"/>
          <p:cNvSpPr txBox="1"/>
          <p:nvPr/>
        </p:nvSpPr>
        <p:spPr>
          <a:xfrm>
            <a:off x="6949440" y="6236207"/>
            <a:ext cx="1060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Diseño de la base de datos PostgreSQL, API RESTful, script de mocking y configuración de Docker.</a:t>
            </a:r>
            <a:endParaRPr sz="2000"/>
          </a:p>
        </p:txBody>
      </p:sp>
      <p:sp>
        <p:nvSpPr>
          <p:cNvPr id="330" name="Google Shape;330;p10"/>
          <p:cNvSpPr/>
          <p:nvPr/>
        </p:nvSpPr>
        <p:spPr>
          <a:xfrm>
            <a:off x="502920" y="7635240"/>
            <a:ext cx="17373600" cy="141732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822960" y="7799831"/>
            <a:ext cx="594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Esteban Fernández Huerta</a:t>
            </a:r>
            <a:endParaRPr sz="2000"/>
          </a:p>
        </p:txBody>
      </p:sp>
      <p:sp>
        <p:nvSpPr>
          <p:cNvPr id="332" name="Google Shape;332;p10"/>
          <p:cNvSpPr txBox="1"/>
          <p:nvPr/>
        </p:nvSpPr>
        <p:spPr>
          <a:xfrm>
            <a:off x="822960" y="8202167"/>
            <a:ext cx="5943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5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Frontend &amp; QA Engineer</a:t>
            </a:r>
            <a:endParaRPr sz="2000"/>
          </a:p>
        </p:txBody>
      </p:sp>
      <p:sp>
        <p:nvSpPr>
          <p:cNvPr id="333" name="Google Shape;333;p10"/>
          <p:cNvSpPr txBox="1"/>
          <p:nvPr/>
        </p:nvSpPr>
        <p:spPr>
          <a:xfrm>
            <a:off x="6949440" y="7836408"/>
            <a:ext cx="106071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Web App en React/Tailwind, integración OCR (Tesseract.js), Dashboard B2B y plan de pruebas unitarias e integración.</a:t>
            </a:r>
            <a:endParaRPr sz="2000"/>
          </a:p>
        </p:txBody>
      </p:sp>
      <p:sp>
        <p:nvSpPr>
          <p:cNvPr id="334" name="Google Shape;334;p10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342" name="Google Shape;342;p11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Tecnología</a:t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17785080" y="660433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521145" y="1076395"/>
            <a:ext cx="731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lt1"/>
                </a:solidFill>
              </a:rPr>
              <a:t>Stack Tecnológico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502925" y="1600397"/>
            <a:ext cx="4160400" cy="382470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react.png" id="346" name="Google Shape;3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87471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 txBox="1"/>
          <p:nvPr/>
        </p:nvSpPr>
        <p:spPr>
          <a:xfrm>
            <a:off x="777240" y="2651950"/>
            <a:ext cx="36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800"/>
          </a:p>
        </p:txBody>
      </p:sp>
      <p:sp>
        <p:nvSpPr>
          <p:cNvPr id="348" name="Google Shape;348;p11"/>
          <p:cNvSpPr txBox="1"/>
          <p:nvPr/>
        </p:nvSpPr>
        <p:spPr>
          <a:xfrm>
            <a:off x="777240" y="3246310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React.js + Tailwind CSS</a:t>
            </a:r>
            <a:endParaRPr sz="1800"/>
          </a:p>
        </p:txBody>
      </p:sp>
      <p:sp>
        <p:nvSpPr>
          <p:cNvPr id="349" name="Google Shape;349;p11"/>
          <p:cNvSpPr txBox="1"/>
          <p:nvPr/>
        </p:nvSpPr>
        <p:spPr>
          <a:xfrm>
            <a:off x="777240" y="3813238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Enfoque Mobile-First</a:t>
            </a:r>
            <a:endParaRPr sz="1800"/>
          </a:p>
        </p:txBody>
      </p:sp>
      <p:sp>
        <p:nvSpPr>
          <p:cNvPr id="350" name="Google Shape;350;p11"/>
          <p:cNvSpPr txBox="1"/>
          <p:nvPr/>
        </p:nvSpPr>
        <p:spPr>
          <a:xfrm>
            <a:off x="777240" y="4380166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Dashboard B2B</a:t>
            </a:r>
            <a:endParaRPr sz="1800"/>
          </a:p>
        </p:txBody>
      </p:sp>
      <p:sp>
        <p:nvSpPr>
          <p:cNvPr id="351" name="Google Shape;351;p11"/>
          <p:cNvSpPr/>
          <p:nvPr/>
        </p:nvSpPr>
        <p:spPr>
          <a:xfrm>
            <a:off x="4919477" y="1600397"/>
            <a:ext cx="4160400" cy="382470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code2.png" id="352" name="Google Shape;3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3792" y="187471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1"/>
          <p:cNvSpPr txBox="1"/>
          <p:nvPr/>
        </p:nvSpPr>
        <p:spPr>
          <a:xfrm>
            <a:off x="5193792" y="2651950"/>
            <a:ext cx="36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800"/>
          </a:p>
        </p:txBody>
      </p:sp>
      <p:sp>
        <p:nvSpPr>
          <p:cNvPr id="354" name="Google Shape;354;p11"/>
          <p:cNvSpPr txBox="1"/>
          <p:nvPr/>
        </p:nvSpPr>
        <p:spPr>
          <a:xfrm>
            <a:off x="5193792" y="3246310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Node.js / Python</a:t>
            </a:r>
            <a:endParaRPr sz="1800"/>
          </a:p>
        </p:txBody>
      </p:sp>
      <p:sp>
        <p:nvSpPr>
          <p:cNvPr id="355" name="Google Shape;355;p11"/>
          <p:cNvSpPr txBox="1"/>
          <p:nvPr/>
        </p:nvSpPr>
        <p:spPr>
          <a:xfrm>
            <a:off x="5193792" y="3813238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API RESTful</a:t>
            </a:r>
            <a:endParaRPr sz="1800"/>
          </a:p>
        </p:txBody>
      </p:sp>
      <p:sp>
        <p:nvSpPr>
          <p:cNvPr id="356" name="Google Shape;356;p11"/>
          <p:cNvSpPr txBox="1"/>
          <p:nvPr/>
        </p:nvSpPr>
        <p:spPr>
          <a:xfrm>
            <a:off x="5193792" y="4380166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OCR con Tesseract.js</a:t>
            </a:r>
            <a:endParaRPr sz="1800"/>
          </a:p>
        </p:txBody>
      </p:sp>
      <p:sp>
        <p:nvSpPr>
          <p:cNvPr id="357" name="Google Shape;357;p11"/>
          <p:cNvSpPr txBox="1"/>
          <p:nvPr/>
        </p:nvSpPr>
        <p:spPr>
          <a:xfrm>
            <a:off x="5193792" y="4947094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Autenticación JWT</a:t>
            </a:r>
            <a:endParaRPr sz="1800"/>
          </a:p>
        </p:txBody>
      </p:sp>
      <p:sp>
        <p:nvSpPr>
          <p:cNvPr id="358" name="Google Shape;358;p11"/>
          <p:cNvSpPr/>
          <p:nvPr/>
        </p:nvSpPr>
        <p:spPr>
          <a:xfrm>
            <a:off x="9336028" y="1600397"/>
            <a:ext cx="4160400" cy="382470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database.png" id="359" name="Google Shape;35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44" y="187471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1"/>
          <p:cNvSpPr txBox="1"/>
          <p:nvPr/>
        </p:nvSpPr>
        <p:spPr>
          <a:xfrm>
            <a:off x="9610344" y="2651950"/>
            <a:ext cx="36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1800"/>
          </a:p>
        </p:txBody>
      </p:sp>
      <p:sp>
        <p:nvSpPr>
          <p:cNvPr id="361" name="Google Shape;361;p11"/>
          <p:cNvSpPr txBox="1"/>
          <p:nvPr/>
        </p:nvSpPr>
        <p:spPr>
          <a:xfrm>
            <a:off x="9610344" y="3246310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PostgreSQL en 3FN</a:t>
            </a:r>
            <a:endParaRPr sz="1800"/>
          </a:p>
        </p:txBody>
      </p:sp>
      <p:sp>
        <p:nvSpPr>
          <p:cNvPr id="362" name="Google Shape;362;p11"/>
          <p:cNvSpPr txBox="1"/>
          <p:nvPr/>
        </p:nvSpPr>
        <p:spPr>
          <a:xfrm>
            <a:off x="9610344" y="3813238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Claves primarias UUID</a:t>
            </a:r>
            <a:endParaRPr sz="1800"/>
          </a:p>
        </p:txBody>
      </p:sp>
      <p:sp>
        <p:nvSpPr>
          <p:cNvPr id="363" name="Google Shape;363;p11"/>
          <p:cNvSpPr txBox="1"/>
          <p:nvPr/>
        </p:nvSpPr>
        <p:spPr>
          <a:xfrm>
            <a:off x="9610344" y="4380166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Precisión DECIMAL</a:t>
            </a:r>
            <a:endParaRPr sz="1800"/>
          </a:p>
        </p:txBody>
      </p:sp>
      <p:sp>
        <p:nvSpPr>
          <p:cNvPr id="364" name="Google Shape;364;p11"/>
          <p:cNvSpPr/>
          <p:nvPr/>
        </p:nvSpPr>
        <p:spPr>
          <a:xfrm>
            <a:off x="13752580" y="1600397"/>
            <a:ext cx="4160400" cy="3824700"/>
          </a:xfrm>
          <a:prstGeom prst="rect">
            <a:avLst/>
          </a:prstGeom>
          <a:solidFill>
            <a:srgbClr val="131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docker.png" id="365" name="Google Shape;36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26896" y="187471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 txBox="1"/>
          <p:nvPr/>
        </p:nvSpPr>
        <p:spPr>
          <a:xfrm>
            <a:off x="14026896" y="2651950"/>
            <a:ext cx="361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 sz="1800"/>
          </a:p>
        </p:txBody>
      </p:sp>
      <p:sp>
        <p:nvSpPr>
          <p:cNvPr id="367" name="Google Shape;367;p11"/>
          <p:cNvSpPr txBox="1"/>
          <p:nvPr/>
        </p:nvSpPr>
        <p:spPr>
          <a:xfrm>
            <a:off x="14026896" y="3246310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Docker y Docker Compose</a:t>
            </a:r>
            <a:endParaRPr sz="1800"/>
          </a:p>
        </p:txBody>
      </p:sp>
      <p:sp>
        <p:nvSpPr>
          <p:cNvPr id="368" name="Google Shape;368;p11"/>
          <p:cNvSpPr txBox="1"/>
          <p:nvPr/>
        </p:nvSpPr>
        <p:spPr>
          <a:xfrm>
            <a:off x="14026896" y="3813238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python-OBD</a:t>
            </a:r>
            <a:endParaRPr sz="1800"/>
          </a:p>
        </p:txBody>
      </p:sp>
      <p:sp>
        <p:nvSpPr>
          <p:cNvPr id="369" name="Google Shape;369;p11"/>
          <p:cNvSpPr txBox="1"/>
          <p:nvPr/>
        </p:nvSpPr>
        <p:spPr>
          <a:xfrm>
            <a:off x="14026896" y="4380166"/>
            <a:ext cx="361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•  Daemon de mocking OBD-II</a:t>
            </a:r>
            <a:endParaRPr sz="1800"/>
          </a:p>
        </p:txBody>
      </p:sp>
      <p:sp>
        <p:nvSpPr>
          <p:cNvPr id="370" name="Google Shape;370;p11"/>
          <p:cNvSpPr/>
          <p:nvPr/>
        </p:nvSpPr>
        <p:spPr>
          <a:xfrm>
            <a:off x="502920" y="8092440"/>
            <a:ext cx="173736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502920" y="8321040"/>
            <a:ext cx="17282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Estándares y librerías clave: SAE J1979 (OBD-II)  ·  OpenAPI 3.0  ·  Jest / PyTest  ·  GitHub Actions (CI/CD)</a:t>
            </a:r>
            <a:endParaRPr/>
          </a:p>
        </p:txBody>
      </p:sp>
      <p:sp>
        <p:nvSpPr>
          <p:cNvPr id="372" name="Google Shape;372;p11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373" name="Google Shape;373;p11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id="374" name="Google Shape;374;p11"/>
          <p:cNvPicPr preferRelativeResize="0"/>
          <p:nvPr/>
        </p:nvPicPr>
        <p:blipFill rotWithShape="1">
          <a:blip r:embed="rId7">
            <a:alphaModFix/>
          </a:blip>
          <a:srcRect b="2633" l="14878" r="6108" t="59543"/>
          <a:stretch/>
        </p:blipFill>
        <p:spPr>
          <a:xfrm>
            <a:off x="0" y="5751225"/>
            <a:ext cx="18288001" cy="39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380" name="Google Shape;380;p12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Cronograma de Trabajo</a:t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17785080" y="660433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443620" y="1746495"/>
            <a:ext cx="731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9C9C9"/>
                </a:solidFill>
                <a:latin typeface="Arial"/>
                <a:ea typeface="Arial"/>
                <a:cs typeface="Arial"/>
                <a:sym typeface="Arial"/>
              </a:rPr>
              <a:t>12 semanas · 4 fases</a:t>
            </a:r>
            <a:endParaRPr/>
          </a:p>
        </p:txBody>
      </p:sp>
      <p:pic>
        <p:nvPicPr>
          <p:cNvPr descr="icon_layers.png" id="384" name="Google Shape;3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3774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 txBox="1"/>
          <p:nvPr/>
        </p:nvSpPr>
        <p:spPr>
          <a:xfrm>
            <a:off x="502920" y="3200400"/>
            <a:ext cx="416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C259"/>
                </a:solidFill>
              </a:rPr>
              <a:t>Sprints 1 y 2 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502920" y="3566160"/>
            <a:ext cx="41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MVP Arquitectura y Datos </a:t>
            </a:r>
            <a:endParaRPr/>
          </a:p>
        </p:txBody>
      </p:sp>
      <p:sp>
        <p:nvSpPr>
          <p:cNvPr id="387" name="Google Shape;387;p12"/>
          <p:cNvSpPr txBox="1"/>
          <p:nvPr/>
        </p:nvSpPr>
        <p:spPr>
          <a:xfrm>
            <a:off x="502924" y="4160525"/>
            <a:ext cx="3740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C9C9"/>
                </a:solidFill>
              </a:rPr>
              <a:t>Modelado PostgreSQL, configuración Docker y primera iteración de la API RESTful. </a:t>
            </a:r>
            <a:endParaRPr sz="1800"/>
          </a:p>
        </p:txBody>
      </p:sp>
      <p:sp>
        <p:nvSpPr>
          <p:cNvPr id="388" name="Google Shape;388;p12"/>
          <p:cNvSpPr txBox="1"/>
          <p:nvPr/>
        </p:nvSpPr>
        <p:spPr>
          <a:xfrm>
            <a:off x="4243027" y="3460413"/>
            <a:ext cx="2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code2.png" id="389" name="Google Shape;3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9472" y="23774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 txBox="1"/>
          <p:nvPr/>
        </p:nvSpPr>
        <p:spPr>
          <a:xfrm>
            <a:off x="4919472" y="3200400"/>
            <a:ext cx="416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C259"/>
                </a:solidFill>
              </a:rPr>
              <a:t>Sprints 3 y 4 </a:t>
            </a:r>
            <a:endParaRPr/>
          </a:p>
        </p:txBody>
      </p:sp>
      <p:sp>
        <p:nvSpPr>
          <p:cNvPr id="391" name="Google Shape;391;p12"/>
          <p:cNvSpPr txBox="1"/>
          <p:nvPr/>
        </p:nvSpPr>
        <p:spPr>
          <a:xfrm>
            <a:off x="4919472" y="3566160"/>
            <a:ext cx="41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Core de Procesamiento (OCR + OBD-II) 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4919472" y="4160520"/>
            <a:ext cx="4160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C9C9"/>
                </a:solidFill>
              </a:rPr>
              <a:t>Integración de Tesseract.js, desarrollo del daemon de mocking y pruebas unitarias de los motores. </a:t>
            </a:r>
            <a:endParaRPr sz="1800"/>
          </a:p>
        </p:txBody>
      </p:sp>
      <p:sp>
        <p:nvSpPr>
          <p:cNvPr id="393" name="Google Shape;393;p12"/>
          <p:cNvSpPr txBox="1"/>
          <p:nvPr/>
        </p:nvSpPr>
        <p:spPr>
          <a:xfrm>
            <a:off x="8934380" y="3460413"/>
            <a:ext cx="2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clipboard.png" id="394" name="Google Shape;3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6024" y="23774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2"/>
          <p:cNvSpPr txBox="1"/>
          <p:nvPr/>
        </p:nvSpPr>
        <p:spPr>
          <a:xfrm>
            <a:off x="9336024" y="3200400"/>
            <a:ext cx="416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C259"/>
                </a:solidFill>
              </a:rPr>
              <a:t>Sprint 5 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9336024" y="3566160"/>
            <a:ext cx="41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Interfaz y Dashboard B2B 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9336025" y="4160525"/>
            <a:ext cx="3977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C9C9"/>
                </a:solidFill>
              </a:rPr>
              <a:t>Consumo de APIs desde React, visualización de métricas y validación de flujos de usuario. </a:t>
            </a:r>
            <a:endParaRPr sz="1800"/>
          </a:p>
        </p:txBody>
      </p:sp>
      <p:sp>
        <p:nvSpPr>
          <p:cNvPr id="398" name="Google Shape;398;p12"/>
          <p:cNvSpPr txBox="1"/>
          <p:nvPr/>
        </p:nvSpPr>
        <p:spPr>
          <a:xfrm>
            <a:off x="13076132" y="3460413"/>
            <a:ext cx="21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pic>
        <p:nvPicPr>
          <p:cNvPr descr="icon_flag.png" id="399" name="Google Shape;39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52576" y="23774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2"/>
          <p:cNvSpPr txBox="1"/>
          <p:nvPr/>
        </p:nvSpPr>
        <p:spPr>
          <a:xfrm>
            <a:off x="13752576" y="3200400"/>
            <a:ext cx="416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C259"/>
                </a:solidFill>
              </a:rPr>
              <a:t>Sprint 6 </a:t>
            </a:r>
            <a:endParaRPr/>
          </a:p>
        </p:txBody>
      </p:sp>
      <p:sp>
        <p:nvSpPr>
          <p:cNvPr id="401" name="Google Shape;401;p12"/>
          <p:cNvSpPr txBox="1"/>
          <p:nvPr/>
        </p:nvSpPr>
        <p:spPr>
          <a:xfrm>
            <a:off x="13752576" y="3566160"/>
            <a:ext cx="41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</a:rPr>
              <a:t>Integración Final y Medición de KPIs </a:t>
            </a:r>
            <a:endParaRPr/>
          </a:p>
        </p:txBody>
      </p:sp>
      <p:sp>
        <p:nvSpPr>
          <p:cNvPr id="402" name="Google Shape;402;p12"/>
          <p:cNvSpPr txBox="1"/>
          <p:nvPr/>
        </p:nvSpPr>
        <p:spPr>
          <a:xfrm>
            <a:off x="13752576" y="4160520"/>
            <a:ext cx="4160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9C9C9"/>
                </a:solidFill>
              </a:rPr>
              <a:t>Pruebas de integración E2E, despliegue final y medición de los objetivos de negocio (tiempos y reducción de errores). </a:t>
            </a:r>
            <a:endParaRPr sz="1800"/>
          </a:p>
        </p:txBody>
      </p:sp>
      <p:sp>
        <p:nvSpPr>
          <p:cNvPr id="403" name="Google Shape;403;p12"/>
          <p:cNvSpPr/>
          <p:nvPr/>
        </p:nvSpPr>
        <p:spPr>
          <a:xfrm>
            <a:off x="502920" y="6035040"/>
            <a:ext cx="173736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405" name="Google Shape;405;p12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406" name="Google Shape;406;p12"/>
          <p:cNvPicPr preferRelativeResize="0"/>
          <p:nvPr/>
        </p:nvPicPr>
        <p:blipFill rotWithShape="1">
          <a:blip r:embed="rId7">
            <a:alphaModFix/>
          </a:blip>
          <a:srcRect b="15361" l="0" r="0" t="15354"/>
          <a:stretch/>
        </p:blipFill>
        <p:spPr>
          <a:xfrm>
            <a:off x="3438875" y="6464825"/>
            <a:ext cx="10953774" cy="30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412" name="Google Shape;412;p13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413" name="Google Shape;413;p13"/>
          <p:cNvSpPr txBox="1"/>
          <p:nvPr/>
        </p:nvSpPr>
        <p:spPr>
          <a:xfrm>
            <a:off x="10241280" y="502920"/>
            <a:ext cx="74980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Comentario Final</a:t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17785080" y="660433"/>
            <a:ext cx="320100" cy="456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3925798" y="1749650"/>
            <a:ext cx="1043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una operación basada en confianza, a una operación basada en evidencia.</a:t>
            </a:r>
            <a:endParaRPr/>
          </a:p>
        </p:txBody>
      </p:sp>
      <p:pic>
        <p:nvPicPr>
          <p:cNvPr descr="icon_lightbulb.png" id="416" name="Google Shape;4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395" y="2832138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3"/>
          <p:cNvSpPr txBox="1"/>
          <p:nvPr/>
        </p:nvSpPr>
        <p:spPr>
          <a:xfrm>
            <a:off x="3812895" y="3655098"/>
            <a:ext cx="562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Valor e Innovación</a:t>
            </a:r>
            <a:endParaRPr/>
          </a:p>
        </p:txBody>
      </p:sp>
      <p:pic>
        <p:nvPicPr>
          <p:cNvPr descr="icon_shield.png" id="418" name="Google Shape;4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9820" y="2894375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3"/>
          <p:cNvSpPr txBox="1"/>
          <p:nvPr/>
        </p:nvSpPr>
        <p:spPr>
          <a:xfrm>
            <a:off x="7844220" y="3717335"/>
            <a:ext cx="562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Viabilidad Garantizada</a:t>
            </a:r>
            <a:endParaRPr/>
          </a:p>
        </p:txBody>
      </p:sp>
      <p:pic>
        <p:nvPicPr>
          <p:cNvPr descr="icon_scale.png" id="420" name="Google Shape;42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39645" y="283215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3"/>
          <p:cNvSpPr txBox="1"/>
          <p:nvPr/>
        </p:nvSpPr>
        <p:spPr>
          <a:xfrm>
            <a:off x="12161570" y="3653035"/>
            <a:ext cx="562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C259"/>
                </a:solidFill>
                <a:latin typeface="Arial"/>
                <a:ea typeface="Arial"/>
                <a:cs typeface="Arial"/>
                <a:sym typeface="Arial"/>
              </a:rPr>
              <a:t>Reflexión del Equipo</a:t>
            </a:r>
            <a:endParaRPr/>
          </a:p>
        </p:txBody>
      </p:sp>
      <p:sp>
        <p:nvSpPr>
          <p:cNvPr id="422" name="Google Shape;422;p13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423" name="Google Shape;423;p13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id="424" name="Google Shape;424;p13"/>
          <p:cNvPicPr preferRelativeResize="0"/>
          <p:nvPr/>
        </p:nvPicPr>
        <p:blipFill rotWithShape="1">
          <a:blip r:embed="rId6">
            <a:alphaModFix/>
          </a:blip>
          <a:srcRect b="15639" l="0" r="0" t="15646"/>
          <a:stretch/>
        </p:blipFill>
        <p:spPr>
          <a:xfrm>
            <a:off x="0" y="5320975"/>
            <a:ext cx="18288002" cy="556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oto_dusk.jpg" id="429" name="Google Shape;4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870" y="4011240"/>
            <a:ext cx="10607042" cy="516636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 txBox="1"/>
          <p:nvPr/>
        </p:nvSpPr>
        <p:spPr>
          <a:xfrm>
            <a:off x="502920" y="38404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FUELDGUARD</a:t>
            </a:r>
            <a:endParaRPr/>
          </a:p>
        </p:txBody>
      </p:sp>
      <p:sp>
        <p:nvSpPr>
          <p:cNvPr id="431" name="Google Shape;431;p14"/>
          <p:cNvSpPr txBox="1"/>
          <p:nvPr/>
        </p:nvSpPr>
        <p:spPr>
          <a:xfrm>
            <a:off x="502920" y="621792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INSTITUTO PROFESIONAL </a:t>
            </a:r>
            <a:r>
              <a:rPr lang="en-US" sz="800">
                <a:solidFill>
                  <a:srgbClr val="9A9A9A"/>
                </a:solidFill>
              </a:rPr>
              <a:t>DUOCUC</a:t>
            </a:r>
            <a:endParaRPr/>
          </a:p>
        </p:txBody>
      </p:sp>
      <p:sp>
        <p:nvSpPr>
          <p:cNvPr id="432" name="Google Shape;432;p14"/>
          <p:cNvSpPr txBox="1"/>
          <p:nvPr/>
        </p:nvSpPr>
        <p:spPr>
          <a:xfrm>
            <a:off x="380535" y="1922540"/>
            <a:ext cx="10515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sp>
        <p:nvSpPr>
          <p:cNvPr id="433" name="Google Shape;433;p14"/>
          <p:cNvSpPr txBox="1"/>
          <p:nvPr/>
        </p:nvSpPr>
        <p:spPr>
          <a:xfrm>
            <a:off x="11612830" y="4048915"/>
            <a:ext cx="612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00" u="none" cap="none" strike="noStrike">
                <a:solidFill>
                  <a:srgbClr val="FFC259"/>
                </a:solidFill>
              </a:rPr>
              <a:t>FUELDGUARD</a:t>
            </a:r>
            <a:endParaRPr b="1" sz="2000">
              <a:solidFill>
                <a:srgbClr val="FFC259"/>
              </a:solidFill>
            </a:endParaRPr>
          </a:p>
        </p:txBody>
      </p:sp>
      <p:sp>
        <p:nvSpPr>
          <p:cNvPr id="434" name="Google Shape;434;p14"/>
          <p:cNvSpPr/>
          <p:nvPr/>
        </p:nvSpPr>
        <p:spPr>
          <a:xfrm flipH="1" rot="10800000">
            <a:off x="17419325" y="1601439"/>
            <a:ext cx="320100" cy="170400"/>
          </a:xfrm>
          <a:prstGeom prst="rect">
            <a:avLst/>
          </a:prstGeom>
          <a:solidFill>
            <a:srgbClr val="FFC2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11612830" y="7301305"/>
            <a:ext cx="612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Jhon Alfaro Flores</a:t>
            </a:r>
            <a:endParaRPr b="1" sz="2200"/>
          </a:p>
        </p:txBody>
      </p:sp>
      <p:sp>
        <p:nvSpPr>
          <p:cNvPr id="436" name="Google Shape;436;p14"/>
          <p:cNvSpPr txBox="1"/>
          <p:nvPr/>
        </p:nvSpPr>
        <p:spPr>
          <a:xfrm>
            <a:off x="11612830" y="7804225"/>
            <a:ext cx="612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</a:rPr>
              <a:t>Esteban Fernández Huerta</a:t>
            </a:r>
            <a:endParaRPr b="1" sz="2200"/>
          </a:p>
        </p:txBody>
      </p:sp>
      <p:pic>
        <p:nvPicPr>
          <p:cNvPr descr="logo_card_es.png" id="437" name="Google Shape;4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2830" y="4622724"/>
            <a:ext cx="329184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4"/>
          <p:cNvSpPr txBox="1"/>
          <p:nvPr/>
        </p:nvSpPr>
        <p:spPr>
          <a:xfrm>
            <a:off x="502920" y="98298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FueldGuard  ·  Fase 1: Definición del Proyecto</a:t>
            </a:r>
            <a:endParaRPr/>
          </a:p>
        </p:txBody>
      </p:sp>
      <p:sp>
        <p:nvSpPr>
          <p:cNvPr id="439" name="Google Shape;439;p14"/>
          <p:cNvSpPr txBox="1"/>
          <p:nvPr/>
        </p:nvSpPr>
        <p:spPr>
          <a:xfrm>
            <a:off x="17099280" y="98298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A9A9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id="440" name="Google Shape;440;p14"/>
          <p:cNvPicPr preferRelativeResize="0"/>
          <p:nvPr/>
        </p:nvPicPr>
        <p:blipFill rotWithShape="1">
          <a:blip r:embed="rId5">
            <a:alphaModFix/>
          </a:blip>
          <a:srcRect b="3016" l="0" r="1497" t="3025"/>
          <a:stretch/>
        </p:blipFill>
        <p:spPr>
          <a:xfrm flipH="1">
            <a:off x="502923" y="3974250"/>
            <a:ext cx="10607027" cy="516635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4"/>
          <p:cNvSpPr/>
          <p:nvPr/>
        </p:nvSpPr>
        <p:spPr>
          <a:xfrm>
            <a:off x="16062675" y="1590175"/>
            <a:ext cx="211999" cy="211999"/>
          </a:xfrm>
          <a:custGeom>
            <a:rect b="b" l="l" r="r" t="t"/>
            <a:pathLst>
              <a:path extrusionOk="0" h="211999" w="211999">
                <a:moveTo>
                  <a:pt x="0" y="0"/>
                </a:moveTo>
                <a:lnTo>
                  <a:pt x="211999" y="0"/>
                </a:lnTo>
                <a:lnTo>
                  <a:pt x="211999" y="211999"/>
                </a:lnTo>
                <a:lnTo>
                  <a:pt x="0" y="211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14"/>
          <p:cNvSpPr txBox="1"/>
          <p:nvPr/>
        </p:nvSpPr>
        <p:spPr>
          <a:xfrm>
            <a:off x="16433059" y="1571125"/>
            <a:ext cx="24153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 UC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